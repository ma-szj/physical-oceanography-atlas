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media29.mp3" ContentType="audio/mpeg"/>
  <Override PartName="/ppt/media/media27.mp3" ContentType="audio/mpeg"/>
  <Override PartName="/ppt/media/image26.png" ContentType="image/png"/>
  <Override PartName="/ppt/media/media25.mp3" ContentType="audio/mpeg"/>
  <Override PartName="/ppt/media/image24.png" ContentType="image/png"/>
  <Override PartName="/ppt/media/media23.mp3" ContentType="audio/mpeg"/>
  <Override PartName="/ppt/media/image22.png" ContentType="image/png"/>
  <Override PartName="/ppt/media/media21.mp3" ContentType="audio/mpeg"/>
  <Override PartName="/ppt/media/media19.mp3" ContentType="audio/mpeg"/>
  <Override PartName="/ppt/media/image20.png" ContentType="image/png"/>
  <Override PartName="/ppt/media/image1.png" ContentType="image/png"/>
  <Override PartName="/ppt/media/image10.png" ContentType="image/png"/>
  <Override PartName="/ppt/media/media17.mp3" ContentType="audio/mpeg"/>
  <Override PartName="/ppt/media/image12.png" ContentType="image/png"/>
  <Override PartName="/ppt/media/image3.png" ContentType="image/png"/>
  <Override PartName="/ppt/media/media33.mp3" ContentType="audio/mpeg"/>
  <Override PartName="/ppt/media/media7.mp3" ContentType="audio/mpeg"/>
  <Override PartName="/ppt/media/image30.png" ContentType="image/png"/>
  <Override PartName="/ppt/media/media2.mp3" ContentType="audio/mpeg"/>
  <Override PartName="/ppt/media/image28.png" ContentType="image/png"/>
  <Override PartName="/ppt/media/image32.png" ContentType="image/png"/>
  <Override PartName="/ppt/media/image34.png" ContentType="image/png"/>
  <Override PartName="/ppt/media/media37.mp3" ContentType="audio/mpeg"/>
  <Override PartName="/ppt/media/media35.mp3" ContentType="audio/mpeg"/>
  <Override PartName="/ppt/media/media9.mp3" ContentType="audio/mpeg"/>
  <Override PartName="/ppt/media/media39.mp3" ContentType="audio/mpeg"/>
  <Override PartName="/ppt/media/image8.png" ContentType="image/png"/>
  <Override PartName="/ppt/media/media15.mp3" ContentType="audio/mpeg"/>
  <Override PartName="/ppt/media/media5.mp3" ContentType="audio/mpeg"/>
  <Override PartName="/ppt/media/media31.mp3" ContentType="audio/mpeg"/>
  <Override PartName="/ppt/media/image6.png" ContentType="image/png"/>
  <Override PartName="/ppt/media/image38.png" ContentType="image/png"/>
  <Override PartName="/ppt/media/media13.mp3" ContentType="audio/mpeg"/>
  <Override PartName="/ppt/media/image4.png" ContentType="image/png"/>
  <Override PartName="/ppt/media/image36.png" ContentType="image/png"/>
  <Override PartName="/ppt/media/media11.mp3" ContentType="audio/mpeg"/>
  <Override PartName="/ppt/media/image14.png" ContentType="image/png"/>
  <Override PartName="/ppt/media/image16.png" ContentType="image/png"/>
  <Override PartName="/ppt/media/image18.png" ContentType="image/png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15849600" cy="88392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9E19381-CB54-45DE-9856-74480C04BDF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别磨蹭了，赶紧看！今天要讲的是海岸波。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这玩意儿在边缘海里头，那可是主角，一天到晚折腾不停。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潮汐、风暴、风啊什么的，都得靠这些波来传信号。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听明白了没有？基础概念！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这玩意儿不是凭空想象的，全球到处都有观测记录！怎么找？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把那些乱七八糟的强迫运动和自由波分开！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最简单的那个模态，就是结构最简单的那个，最容易看出来，因为它抬高海岸那一下最明显。复杂点的？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得下海测流速！俄勒冈、中大西洋、澳大利亚，都做了！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数据摆在这儿，不是让你瞎猜的！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理论部分来了，打起精神！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用的是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Boussinesq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方程组，知道吧？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就是假设海水密度差不多，不可压缩。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海底是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b(x)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，海面是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η(x,t)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运动基本水平，静力平衡。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坐标系转着转，考虑科里奥利力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f/2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表面压力应力跟大气对上。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底下没水进来，离岸远了速度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u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趋于零。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这些都是简化，但没这些简化你们连门都摸不着！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别告诉我你连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Boussinesq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是啥都不知道！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先看最简单的，直线大陆架，还不分层。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x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向外，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y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沿岸。深度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h(x)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波的形式是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exp(iky + iσt)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，懂吗？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σ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，波就往负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y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方向跑，北半球海岸在右边，叫前进。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推导一下动量方程，最后得到这个关键方程：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(bη)' + Kη = 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那个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啊，里面包含了频率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σ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、波数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、科里奥利参数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、海底坡度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b'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还有重力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g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看清楚这个公式，后面全靠它。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光有方程还不够，得有边界条件！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底部不能漏水，所以当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x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趋近于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时，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乘以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σ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乘以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η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的导数加上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乘以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乘以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η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趋近于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离岸无穷远，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η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趋近于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，波得被海岸困住。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解这个方程组，就能得到特征值问题，也就是所谓的自由波模式。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不同的模式对应不同的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值，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越大，离岸节点越多。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图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看懂没？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时波是怎么传的，北半球是向前的。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这么直观的东西，再看不懂我真要怀疑人生了。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那个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值里面有两个主要部分。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第一部分，西格玛平方减去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平方除以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g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再减去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平方乘以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，这是重力波的影子，受旋转影响，频率越高，这部分越大。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如果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f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，它就搞出开尔文波，就是那种衰减但不交叉的波。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其他的边缘波也跟它有关。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第二部分，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f b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撇除以西格玛，这是涡度恢复机制，跟地形变化和科里奥利力有关，频率越低，这部分越大。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图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画的就是大陆架波的机制：水流到浅处，为了保体积就得侧向扩散，转得慢了，加上地球自转，就产生反气旋涡度。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然后沿着坡往前走，上坡位移就往前传，后面跟着下坡流把它拉回来。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这过程很难理解吗？需要我画个动画给你看？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看看这些典型性质。相速度，只要频率小于惯性频率 绝对值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，所有模态都是前进的。频率呢？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有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个节点、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2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个节点……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的波，频率依次降低，绝对值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西格玛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西格玛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2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省略号。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开尔文波频率更高，西格玛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西格玛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1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，而且能超过绝对值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边缘波频率更高，西格玛 大于 绝对值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，但也不是所有波数都能存在，有些低频的会被排除掉，因为它们不满足捕获条件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图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3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这个色散图，各种波的频率和波数关系，看得懂吗？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实线是被捕获的，虚线是差点被捕获的。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这图要是还看不懂，建议回去重修物理。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继续看性质。因为海底坡度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撇比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不会无限陡峭，所以频率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sigma(k)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曲线上会有个最大值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sigma_M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在这个最大值附近，第一模态波的速度最大，通常在大陆架边缘，而且是反气旋式的。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这时候能量传播速度群速度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partial sigma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除以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partial 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会反转方向。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高频极限下，波数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趋于无穷大，波就挤在海岸边海滩上了。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低频极限下，波速比值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除以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和速度场都趋于稳定形式，跨架速度几乎为零。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还有相位关系，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v, eta, eta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撇 同相或反相，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v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和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eta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撇 近似满足地转平衡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 v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等于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g eta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撇，而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u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相位差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90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度。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记住，浅水开尔文波一般是气旋式，第一模态大陆架波是反气旋式。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这些都是基本特征，记不住就别干这行了。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尺度方面，大陆架波的形状主要看海底怎么变，跟水平尺度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L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关系不大。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相速度跟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fL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成正比，速度场跟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U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和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fUL/g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成正比，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U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是个典型速度，比如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0.1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米每秒。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开尔文波呢，更看深度，相速度接近根号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gh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无穷大，速度场跟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Z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成正比，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Z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是个典型高度。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具体数值算出来要靠计算机模拟，这里给的是定性关系。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那个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 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曲线上的最大值很重要，很多观测都发现频率接近这个最大值的波。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图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4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是苏格兰附近风吹出来的波，模拟结果，能看到波是怎么传播的。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理论联系实际，懂不懂？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别一天到晚只看公式！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海岸线不是直的，地形也复杂。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矩形盆地、圆形盆地里也有。绕岛一圈？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只有频率低于惯性频率的波才能完美被困住，波长会被限制住。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宽大陆架，把坡当悬崖看，结果跟直线差不多，但最低模态是个双开尔文波，两边都衰减。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海山、海脊、海沟，都是类似的道理，只不过几何形状变了，波的模式也跟着变，可能会双向传播。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所有这些复杂情况，都可以用数值方法处理，跟前面直线模型的思路是一样的。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别看到稍微复杂的就头晕。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现在考虑水是有分层的，密度随深度变化。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还是直线大陆架。波的形式现在要考虑垂直方向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z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推导过程比较繁琐，最后得到一个关于扰动压力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p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的偏微分方程，就是这个方程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3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边界条件也多了个关于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N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平方的项，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N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平方就是布伦克温克勒频率的平方，代表分层强度。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底部无穿透，表面压力为零，远处波消失。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这些条件都得满足。分层的影响，主要就体现在这个方程里。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分层之后，波有什么不一样？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平坦海底，如果分层不强，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N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平方远小于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g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除以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b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，就有开尔文波和内部开尔文波解，垂直结构是余弦函数。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斜坡海底，引入一个参数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，衡量分层的重要性。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小，跟没分层差不多。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中等，波速变快，剖面倾斜，甚至可能出现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 k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单调增加的情况，跟之前不一样。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很大，波就变成内部开尔文波的样子了，就像在内部变形尺度内传播。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对于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的波，分层会让捕获不完美，但仍有某些频率的波能被近似捕获。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还有种底部捕获波，能量集中在海底附近传播。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这些现象都跟分层有关，想不明白就多看几遍。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现实海洋里有摩擦和平均流。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摩擦会让波的能量耗散掉，速度也跟不上强迫。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阻尼时间估计也就几天。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能量传播距离也有限，长波能传很远，短波就短多了。平均流呢？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如果流速跟波差不多，或者涡度量级跟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差不多，那影响就大了。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均匀流平移还好，剪切流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V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撇 就麻烦了，它会改变背景潜在涡度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P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，从而影响波的传播。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如果条件合适，还可能激发不稳定，比如斜压不稳定。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分层情况下，垂直剪切也可能导致不稳定。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这些都是实际问题，不能只看理想模型。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非线性效应。波幅一大，就不能再用线性理论了。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开尔文波波峰追波谷，波前会变陡；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内部开尔文波反过来。不过色散效应会限制这种陡峭，短波跑得慢，把陡峭甩在后面。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小振幅长波，非线性和色散可以平衡，形成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sech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平方 形状的永久波。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大陆架波通常振幅不大，非线性效应发展得比较慢，可能还没等它变陡，就被摩擦耗散掉了。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另外，波还能通过非线性项强迫平均流，或者通过粗糙海底产生阻力，形成偏向前进方向的流。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三个波还能互相作用，交换能量。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这些都是非线性带来的复杂性。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沿岸地形不是一成不变的。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如果变化很缓慢，波就基本按原来的样子传过去，能量通量守恒。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但如果遇到某个地方，波的频率正好接近当地允许的最大频率，能量就会堆积起来，振幅变大。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要是频率太高，超过了当地最大允许频率，波就会被反射回去。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地形有点小起伏，会引起散射，能量跑到相邻模式去。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要是地形变化很大，波就得调整自己，也会发生散射。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特别陡峭的地方，散射最厉害，可能产生涡旋。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不过，即使在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sigma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大于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f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的情况下，特定角度也能实现完美传输。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海湾里波来回反射，还可能合成共振波。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总之，地形变化会让波的行为变得五花八门。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这些波是怎么来的？海洋深处的运动撞到海岸，就会激发这些波。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大气强迫也很重要，尤其是风！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沿岸风应力 </a:t>
            </a:r>
            <a:r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τ </a:t>
            </a: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是最厉害的驱动因素。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风吹一阵，水就动起来，风停了，波还在往前传。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简单说就是风加速了沿岸流动；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复杂点说，风在表面吹出一个跨架流，被海岸挡住后，下面的补偿流受到科里奥利力作用，就变成了沿岸流。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还有其他方式，比如地形散射、河流径流变化等等。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这些波有什么用？它们是边缘海响应各种强迫的主要方式！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窄大陆架上，潮汐主要是开尔文波；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宽大陆架上，风的作用更大，通常是最低模态的大陆架波。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波在传播过程中还会不断叠加新的局地强迫，影响整个区域的水流。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秘鲁上升流区的例子说明了这一点。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所以，研究这些波，就是为了理解海洋是怎么工作的！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总结一下！今天讲的就是那些周期一天左右，在大陆架上跑来跑去的波。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它们一般往前跑，但能量可能往后传。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只有周期比较长的波才能被牢牢困住，短周期的会漏能量。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分层、地形、洋流都会影响它们。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波太大或者地形太怪，波形就会扭曲，模式也会变。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这些东西很重要！它们决定了边缘海怎么响应潮汐、风、密度变化等等。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而且它们跑得远，意味着一个地方的强迫会影响很远的地方，特别是往前的方向。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听明白了没有？回去好好消化消化！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参考文献列在这儿，有兴趣的自己去看。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别指望我喂到你嘴里。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zh-CN" sz="1800" spc="-1" strike="noStrike">
                <a:solidFill>
                  <a:schemeClr val="dk1"/>
                </a:solidFill>
                <a:latin typeface="+mn-lt"/>
                <a:ea typeface="+mn-ea"/>
              </a:rPr>
              <a:t>行了，就讲这么多。自己回去再琢磨琢磨。散会。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92360" y="352440"/>
            <a:ext cx="14264280" cy="14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792360" y="2068200"/>
            <a:ext cx="14264280" cy="51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71256-E470-4D37-B808-B5AAE8C7E8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70D932-CE36-4918-AFC8-695DF51D27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8F02D0D-F7BF-44D4-A5B0-862BB016B89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92360" y="352440"/>
            <a:ext cx="14264280" cy="14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92360" y="2068200"/>
            <a:ext cx="14264280" cy="51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89E7390-2ED3-48BD-841A-60DEE379BF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573E37D-7624-41D5-A1EC-DCC85822DB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92360" y="352440"/>
            <a:ext cx="14264280" cy="14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792360" y="2068200"/>
            <a:ext cx="6960960" cy="51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8101800" y="2068200"/>
            <a:ext cx="6960960" cy="51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7ABFCD9-9133-49F3-B9CC-3A6C414980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8B277B0-5E87-4A93-8E20-51018B0B43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92360" y="352440"/>
            <a:ext cx="14264280" cy="14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5191791-E9BA-4FC4-B7D2-83FE683755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9BD2C15-D3BF-4D51-A4E0-613511E5B3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CA1C579C-9513-4465-B543-9AF86025DF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0BE73B80-0591-4BBD-A7D5-EF9DEEA5EF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DDB9E2-5C05-41BA-B9A6-9CF86E9D5F5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B2198E6-0937-4CA2-9F81-7D6885F72D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1B88D2-4F54-4052-ABD0-0E6C4A5926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AEF462-1DF8-4CFE-AA2E-784AA41640D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F99692-1232-4A6D-B092-C523553D09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72C485-E329-4583-9552-C1F14F687EA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26A21A-C89D-493E-824E-D8E3096937C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5083E3-EC28-4344-AE37-FBE1D601D9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E67AFF-FB3B-41C9-9F8E-5BAD0B808CE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title"/>
          </p:nvPr>
        </p:nvSpPr>
        <p:spPr>
          <a:xfrm>
            <a:off x="792360" y="352440"/>
            <a:ext cx="14264280" cy="14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792360" y="2068200"/>
            <a:ext cx="14264280" cy="51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BE7D35-9368-464C-A65B-BA9BBE323F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D1E266-69BF-42DC-AB62-D55C4AA7BF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.xml"/>
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2.xml"/>
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3.xml"/>
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4.xml"/>
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5.xml"/>
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6.xml"/>
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7.xml"/>
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
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9.xml"/>
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image" Target="../media/image20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0.xml"/>
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1.xml"/>
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2.xml"/>
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image" Target="../media/image2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3.xml"/>
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image" Target="../media/image28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4.xml"/>
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image" Target="../media/image30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5.xml"/>
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image" Target="../media/image3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6.xml"/>
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image" Target="../media/image3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7.xml"/>
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image" Target="../media/image36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8.xml"/>
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image" Target="../media/image38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97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00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03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06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09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12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15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1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21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24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27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30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33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36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39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42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45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48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5849360" cy="8838720"/>
          </a:xfrm>
          <a:prstGeom prst="rect">
            <a:avLst/>
          </a:prstGeom>
          <a:ln w="0">
            <a:noFill/>
          </a:ln>
        </p:spPr>
      </p:pic>
      <p:sp>
        <p:nvSpPr>
          <p:cNvPr id="151" name="Watermark"/>
          <p:cNvSpPr/>
          <p:nvPr/>
        </p:nvSpPr>
        <p:spPr>
          <a:xfrm>
            <a:off x="14203800" y="829044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[AI</a:t>
            </a:r>
            <a:r>
              <a:rPr b="0" lang="zh-CN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生成</a:t>
            </a:r>
            <a:r>
              <a:rPr b="0" lang="en-US" sz="2400" spc="-1" strike="noStrike">
                <a:solidFill>
                  <a:srgbClr val="c8c8c8">
                    <a:alpha val="50000"/>
                  </a:srgbClr>
                </a:solidFill>
                <a:latin typeface="Calibri"/>
              </a:rPr>
              <a:t>]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 "1", "ContentProducer": "001191310115MA1H9U6C1800000", "ProduceID": "Metasota_9e1616cfb911dfece50827443f1efe13", "ContentPropagator": "001191310115MA1H9U6C1800000", "PropagateID": "Metasota_9e1616cfb911dfece50827443f1efe13", "ReservedCode1": null, "ReservedCode2": null}</vt:lpwstr>
  </property>
  <property fmtid="{D5CDD505-2E9C-101B-9397-08002B2CF9AE}" pid="3" name="PresentationFormat">
    <vt:lpwstr>On-screen Show (4:3)</vt:lpwstr>
  </property>
</Properties>
</file>